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7A43"/>
                </a:solidFill>
              </a:rPr>
              <a:t>SICOM · Prevención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Reportabilidad por faena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Capacitación de puesta en marcha — supervisores y prevención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1D5DB"/>
                </a:solidFill>
              </a:rPr>
              <a:t>El supervisor carga en terreno · el consolidado sale solo · los documentos del mandante se generan con un botón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7A43"/>
                </a:solidFill>
              </a:rPr>
              <a:t>Pillado y Cía. Ltda. · Septiembre 2026 · aplica desde HOY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EL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Qué cambia desde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394960" cy="44805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</a:rPr>
              <a:t>•  Los RIT / VAT / VCT se pedían por correo a cada supervisor</a:t>
            </a:r>
          </a:p>
          <a:p>
            <a:r>
              <a:rPr sz="1200">
                <a:solidFill>
                  <a:srgbClr val="6B7280"/>
                </a:solidFill>
              </a:rPr>
              <a:t>    a fin de mes, uno por uno</a:t>
            </a:r>
          </a:p>
          <a:p>
            <a:r>
              <a:rPr sz="1500" b="1">
                <a:solidFill>
                  <a:srgbClr val="111827"/>
                </a:solidFill>
              </a:rPr>
              <a:t>•  El informe mensual se armaba a mano</a:t>
            </a:r>
          </a:p>
          <a:p>
            <a:r>
              <a:rPr sz="1200">
                <a:solidFill>
                  <a:srgbClr val="6B7280"/>
                </a:solidFill>
              </a:rPr>
              <a:t>    planillas, fotos en WhatsApp, carpetas sueltas</a:t>
            </a:r>
          </a:p>
          <a:p>
            <a:r>
              <a:rPr sz="1500" b="1">
                <a:solidFill>
                  <a:srgbClr val="111827"/>
                </a:solidFill>
              </a:rPr>
              <a:t>•  La evidencia quedaba repartida</a:t>
            </a:r>
          </a:p>
          <a:p>
            <a:r>
              <a:rPr sz="1200">
                <a:solidFill>
                  <a:srgbClr val="6B7280"/>
                </a:solidFill>
              </a:rPr>
              <a:t>    difícil responder a una auditoría del mandante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554480"/>
            <a:ext cx="5394960" cy="4480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7A43"/>
                </a:solidFill>
              </a:rPr>
              <a:t>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</a:rPr>
              <a:t>•  Cada supervisor carga SU registro desde el teléfono</a:t>
            </a:r>
          </a:p>
          <a:p>
            <a:r>
              <a:rPr sz="1200">
                <a:solidFill>
                  <a:srgbClr val="6B7280"/>
                </a:solidFill>
              </a:rPr>
              <a:t>    con foto, el mismo día de la actividad</a:t>
            </a:r>
          </a:p>
          <a:p>
            <a:r>
              <a:rPr sz="1500" b="1">
                <a:solidFill>
                  <a:srgbClr val="111827"/>
                </a:solidFill>
              </a:rPr>
              <a:t>•  El consolidado del mes sale solo</a:t>
            </a:r>
          </a:p>
          <a:p>
            <a:r>
              <a:rPr sz="1200">
                <a:solidFill>
                  <a:srgbClr val="6B7280"/>
                </a:solidFill>
              </a:rPr>
              <a:t>    planificado vs real, abiertos y cerrados</a:t>
            </a:r>
          </a:p>
          <a:p>
            <a:r>
              <a:rPr sz="1500" b="1">
                <a:solidFill>
                  <a:srgbClr val="111827"/>
                </a:solidFill>
              </a:rPr>
              <a:t>•  Los documentos se generan con un botón</a:t>
            </a:r>
          </a:p>
          <a:p>
            <a:r>
              <a:rPr sz="1200">
                <a:solidFill>
                  <a:srgbClr val="6B7280"/>
                </a:solidFill>
              </a:rPr>
              <a:t>    E-200, informe GRP CMP, informe Franke, PPT de evidencias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EL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Una sola puerta, dos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45920"/>
            <a:ext cx="1115568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pilladoiceo.netlify.app/m/prevencion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•  SUPERVISOR — completa</a:t>
            </a:r>
          </a:p>
          <a:p>
            <a:r>
              <a:rPr sz="1400">
                <a:solidFill>
                  <a:srgbClr val="6B7280"/>
                </a:solidFill>
              </a:rPr>
              <a:t>    carga sus RIT/VAT/VCT, charlas e inspecciones con foto y cierra sus pendientes</a:t>
            </a:r>
          </a:p>
          <a:p>
            <a:r>
              <a:rPr sz="1700" b="1">
                <a:solidFill>
                  <a:srgbClr val="111827"/>
                </a:solidFill>
              </a:rPr>
              <a:t>•  PREVENCIONISTA — chequea y genera</a:t>
            </a:r>
          </a:p>
          <a:p>
            <a:r>
              <a:rPr sz="1400">
                <a:solidFill>
                  <a:srgbClr val="6B7280"/>
                </a:solidFill>
              </a:rPr>
              <a:t>    entra a «Control del mes»: ve quién cargó, qué falta y genera los documentos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9260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11827"/>
                </a:solidFill>
              </a:rPr>
              <a:t>•  En el teléfono</a:t>
            </a:r>
          </a:p>
          <a:p>
            <a:r>
              <a:rPr sz="1400">
                <a:solidFill>
                  <a:srgbClr val="6B7280"/>
                </a:solidFill>
              </a:rPr>
              <a:t>    guardar el acceso directo en la pantalla de inicio (Chrome → Compartir → Añadir a pantalla de inicio)</a:t>
            </a:r>
          </a:p>
          <a:p>
            <a:r>
              <a:rPr sz="1700" b="1">
                <a:solidFill>
                  <a:srgbClr val="111827"/>
                </a:solidFill>
              </a:rPr>
              <a:t>•  Con su misma cuenta SICOM</a:t>
            </a:r>
          </a:p>
          <a:p>
            <a:r>
              <a:rPr sz="1400">
                <a:solidFill>
                  <a:srgbClr val="6B7280"/>
                </a:solidFill>
              </a:rPr>
              <a:t>    el sistema sabe quién es usted, su faena y su rol — no hay nada que configurar</a:t>
            </a:r>
          </a:p>
        </p:txBody>
      </p:sp>
      <p:pic>
        <p:nvPicPr>
          <p:cNvPr id="9" name="Picture 8" descr="por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3017520"/>
            <a:ext cx="2427136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50976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El portal, real (producción)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SUPERVISOR · 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Cargar un registro toma 1 minuto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</a:rPr>
              <a:t>•  1 · Toque «Nuevo registro»</a:t>
            </a:r>
          </a:p>
          <a:p>
            <a:r>
              <a:rPr sz="1500" b="1">
                <a:solidFill>
                  <a:srgbClr val="111827"/>
                </a:solidFill>
              </a:rPr>
              <a:t>•  2 · Elija la faena y el tipo</a:t>
            </a:r>
          </a:p>
          <a:p>
            <a:r>
              <a:rPr sz="1200">
                <a:solidFill>
                  <a:srgbClr val="6B7280"/>
                </a:solidFill>
              </a:rPr>
              <a:t>    RIT, VAT, VCT, charla, capacitación, inspección, observación, simulacro, campaña, HS-SAFEWORK o GCOM</a:t>
            </a:r>
          </a:p>
          <a:p>
            <a:r>
              <a:rPr sz="1500" b="1">
                <a:solidFill>
                  <a:srgbClr val="111827"/>
                </a:solidFill>
              </a:rPr>
              <a:t>•  3 · Título corto y claro</a:t>
            </a:r>
          </a:p>
          <a:p>
            <a:r>
              <a:rPr sz="1200">
                <a:solidFill>
                  <a:srgbClr val="6B7280"/>
                </a:solidFill>
              </a:rPr>
              <a:t>    ej: «VCT izaje con camión pluma» — es lo que se lee en el informe</a:t>
            </a:r>
          </a:p>
          <a:p>
            <a:r>
              <a:rPr sz="1500" b="1">
                <a:solidFill>
                  <a:srgbClr val="111827"/>
                </a:solidFill>
              </a:rPr>
              <a:t>•  4 · Agregue la foto</a:t>
            </a:r>
          </a:p>
          <a:p>
            <a:r>
              <a:rPr sz="1200">
                <a:solidFill>
                  <a:srgbClr val="6B7280"/>
                </a:solidFill>
              </a:rPr>
              <a:t>    la evidencia vale más que el texto; se comprime sola, no gasta sus datos</a:t>
            </a:r>
          </a:p>
          <a:p>
            <a:r>
              <a:rPr sz="1500" b="1">
                <a:solidFill>
                  <a:srgbClr val="111827"/>
                </a:solidFill>
              </a:rPr>
              <a:t>•  5 · ¿Quedó un hallazgo pendiente?</a:t>
            </a:r>
          </a:p>
          <a:p>
            <a:r>
              <a:rPr sz="1200">
                <a:solidFill>
                  <a:srgbClr val="6B7280"/>
                </a:solidFill>
              </a:rPr>
              <a:t>    marque «queda ABIERTO» — el sistema se lo recordará hasta que lo cierre</a:t>
            </a:r>
          </a:p>
          <a:p>
            <a:r>
              <a:rPr sz="1500" b="1">
                <a:solidFill>
                  <a:srgbClr val="111827"/>
                </a:solidFill>
              </a:rPr>
              <a:t>•  6 · Guardar — listo</a:t>
            </a:r>
          </a:p>
          <a:p>
            <a:r>
              <a:rPr sz="1200">
                <a:solidFill>
                  <a:srgbClr val="6B7280"/>
                </a:solidFill>
              </a:rPr>
              <a:t>    ya quedó contado para el informe mensual, nadie se lo va a pedir por correo</a:t>
            </a:r>
          </a:p>
        </p:txBody>
      </p:sp>
      <p:pic>
        <p:nvPicPr>
          <p:cNvPr id="6" name="Picture 5" descr="mod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3881535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El formulario, real (producción)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SUPERVISOR · 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Cierre sus abiertos y mire su 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11827"/>
                </a:solidFill>
              </a:rPr>
              <a:t>•  «Mis abiertos» — en ámbar</a:t>
            </a:r>
          </a:p>
          <a:p>
            <a:r>
              <a:rPr sz="1300">
                <a:solidFill>
                  <a:srgbClr val="6B7280"/>
                </a:solidFill>
              </a:rPr>
              <a:t>    los VCT/RIT con hallazgo pendiente; al resolver la medida, toque «Cerrar» y escriba qué se hizo</a:t>
            </a:r>
          </a:p>
          <a:p>
            <a:r>
              <a:rPr sz="1600" b="1">
                <a:solidFill>
                  <a:srgbClr val="111827"/>
                </a:solidFill>
              </a:rPr>
              <a:t>•  Un abierto NO es malo — un abierto eterno sí</a:t>
            </a:r>
          </a:p>
          <a:p>
            <a:r>
              <a:rPr sz="1300">
                <a:solidFill>
                  <a:srgbClr val="6B7280"/>
                </a:solidFill>
              </a:rPr>
              <a:t>    el informe CMP muestra abiertos y cerrados: cierre dentro del mes</a:t>
            </a:r>
          </a:p>
          <a:p>
            <a:r>
              <a:rPr sz="1600" b="1">
                <a:solidFill>
                  <a:srgbClr val="111827"/>
                </a:solidFill>
              </a:rPr>
              <a:t>•  «Mi avance del mes»</a:t>
            </a:r>
          </a:p>
          <a:p>
            <a:r>
              <a:rPr sz="1300">
                <a:solidFill>
                  <a:srgbClr val="6B7280"/>
                </a:solidFill>
              </a:rPr>
              <a:t>    cuántos lleva por tipo — lo mismo que ve prevención en su monitoreo</a:t>
            </a:r>
          </a:p>
          <a:p>
            <a:r>
              <a:rPr sz="1600" b="1">
                <a:solidFill>
                  <a:srgbClr val="111827"/>
                </a:solidFill>
              </a:rPr>
              <a:t>•  Regla de oro</a:t>
            </a:r>
          </a:p>
          <a:p>
            <a:r>
              <a:rPr sz="1300">
                <a:solidFill>
                  <a:srgbClr val="6B7280"/>
                </a:solidFill>
              </a:rPr>
              <a:t>    la actividad se carga EL MISMO DÍA, con foto. Lo que no está en SICOM, para el informe no existe</a:t>
            </a:r>
          </a:p>
        </p:txBody>
      </p:sp>
      <p:pic>
        <p:nvPicPr>
          <p:cNvPr id="6" name="Picture 5" descr="cerr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2513294" cy="2377440"/>
          </a:xfrm>
          <a:prstGeom prst="rect">
            <a:avLst/>
          </a:prstGeom>
        </p:spPr>
      </p:pic>
      <p:pic>
        <p:nvPicPr>
          <p:cNvPr id="7" name="Picture 6" descr="cont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737360"/>
            <a:ext cx="2324501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6035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Registro cerrado · y lo que ve prevención con su carga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PREVENCIONISTA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Control del mes: quién cargó y qué falta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11827"/>
                </a:solidFill>
              </a:rPr>
              <a:t>•  Entre por «Control del mes» (o al panel web)</a:t>
            </a:r>
          </a:p>
          <a:p>
            <a:r>
              <a:rPr sz="1300">
                <a:solidFill>
                  <a:srgbClr val="6B7280"/>
                </a:solidFill>
              </a:rPr>
              <a:t>    elija la faena y el mes arriba</a:t>
            </a:r>
          </a:p>
          <a:p>
            <a:r>
              <a:rPr sz="1600" b="1">
                <a:solidFill>
                  <a:srgbClr val="111827"/>
                </a:solidFill>
              </a:rPr>
              <a:t>•  4 semáforos</a:t>
            </a:r>
          </a:p>
          <a:p>
            <a:r>
              <a:rPr sz="1300">
                <a:solidFill>
                  <a:srgbClr val="6B7280"/>
                </a:solidFill>
              </a:rPr>
              <a:t>    registros · supervisores con carga · indicadores · entregas al mandante</a:t>
            </a:r>
          </a:p>
          <a:p>
            <a:r>
              <a:rPr sz="1600" b="1">
                <a:solidFill>
                  <a:srgbClr val="111827"/>
                </a:solidFill>
              </a:rPr>
              <a:t>•  Carga por supervisor</a:t>
            </a:r>
          </a:p>
          <a:p>
            <a:r>
              <a:rPr sz="1300">
                <a:solidFill>
                  <a:srgbClr val="6B7280"/>
                </a:solidFill>
              </a:rPr>
              <a:t>    cuánto lleva cada uno, por tipo, y sus abiertos</a:t>
            </a:r>
          </a:p>
          <a:p>
            <a:r>
              <a:rPr sz="1600" b="1">
                <a:solidFill>
                  <a:srgbClr val="111827"/>
                </a:solidFill>
              </a:rPr>
              <a:t>•  «Sin cargas» en rojo = cobrar ANTES del cierre</a:t>
            </a:r>
          </a:p>
          <a:p>
            <a:r>
              <a:rPr sz="1300">
                <a:solidFill>
                  <a:srgbClr val="6B7280"/>
                </a:solidFill>
              </a:rPr>
              <a:t>    el sistema le dice a quién, con nombre y correo — ya no se persigue por WhatsApp a fin de mes</a:t>
            </a:r>
          </a:p>
        </p:txBody>
      </p:sp>
      <p:pic>
        <p:nvPicPr>
          <p:cNvPr id="6" name="Picture 5" descr="monitor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4937760" cy="13585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5303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Monitoreo real: 1/4 supervisores con carga, faltantes con nombre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PREVENCIONISTA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El panel completo: 5 pestañas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</a:rPr>
              <a:t>•  Gestión del mes</a:t>
            </a:r>
          </a:p>
          <a:p>
            <a:r>
              <a:rPr sz="1200">
                <a:solidFill>
                  <a:srgbClr val="6B7280"/>
                </a:solidFill>
              </a:rPr>
              <a:t>    planificado vs real por tipo — LAS METAS SE FIJAN AQUÍ a inicio de mes (el «planificado» del informe CMP)</a:t>
            </a:r>
          </a:p>
          <a:p>
            <a:r>
              <a:rPr sz="1500" b="1">
                <a:solidFill>
                  <a:srgbClr val="111827"/>
                </a:solidFill>
              </a:rPr>
              <a:t>•  Registros</a:t>
            </a:r>
          </a:p>
          <a:p>
            <a:r>
              <a:rPr sz="1200">
                <a:solidFill>
                  <a:srgbClr val="6B7280"/>
                </a:solidFill>
              </a:rPr>
              <a:t>    todo lo cargado, con evidencia; cierre, filtros y export CSV</a:t>
            </a:r>
          </a:p>
          <a:p>
            <a:r>
              <a:rPr sz="1500" b="1">
                <a:solidFill>
                  <a:srgbClr val="111827"/>
                </a:solidFill>
              </a:rPr>
              <a:t>•  Indicadores</a:t>
            </a:r>
          </a:p>
          <a:p>
            <a:r>
              <a:rPr sz="1200">
                <a:solidFill>
                  <a:srgbClr val="6B7280"/>
                </a:solidFill>
              </a:rPr>
              <a:t>    digite dotación, HH y accidentes del mes — IF, IG y tasa se CALCULAN solos (Ley 16.744)</a:t>
            </a:r>
          </a:p>
          <a:p>
            <a:r>
              <a:rPr sz="1500" b="1">
                <a:solidFill>
                  <a:srgbClr val="111827"/>
                </a:solidFill>
              </a:rPr>
              <a:t>•  Entregas del mes</a:t>
            </a:r>
          </a:p>
          <a:p>
            <a:r>
              <a:rPr sz="1200">
                <a:solidFill>
                  <a:srgbClr val="6B7280"/>
                </a:solidFill>
              </a:rPr>
              <a:t>    el checklist de reportabilidad con plazo, generación y respaldo</a:t>
            </a:r>
          </a:p>
          <a:p>
            <a:r>
              <a:rPr sz="1500" b="1">
                <a:solidFill>
                  <a:srgbClr val="111827"/>
                </a:solidFill>
              </a:rPr>
              <a:t>•  Monitoreo</a:t>
            </a:r>
          </a:p>
          <a:p>
            <a:r>
              <a:rPr sz="1200">
                <a:solidFill>
                  <a:srgbClr val="6B7280"/>
                </a:solidFill>
              </a:rPr>
              <a:t>    lo mismo del control móvil, en grande</a:t>
            </a:r>
          </a:p>
        </p:txBody>
      </p:sp>
      <p:pic>
        <p:nvPicPr>
          <p:cNvPr id="6" name="Picture 5" descr="ges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94560"/>
            <a:ext cx="4937760" cy="8882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Gestión del mes real: VCT con 1 real, 1 cerrado, meta editable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PREVENCIONISTA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Los documentos del mandante, con un botón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217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11827"/>
                </a:solidFill>
              </a:rPr>
              <a:t>•  E-200 SERNAGEOMIN</a:t>
            </a:r>
          </a:p>
          <a:p>
            <a:r>
              <a:rPr sz="1100">
                <a:solidFill>
                  <a:srgbClr val="6B7280"/>
                </a:solidFill>
              </a:rPr>
              <a:t>    el formulario ESTATAL tal cual, con empresa, instalación, dotación y HH ya llenos — declarar en SIMIN antes del día 10</a:t>
            </a:r>
          </a:p>
          <a:p>
            <a:r>
              <a:rPr sz="1400" b="1">
                <a:solidFill>
                  <a:srgbClr val="111827"/>
                </a:solidFill>
              </a:rPr>
              <a:t>•  Informe de Gestión GRP (Romeral)</a:t>
            </a:r>
          </a:p>
          <a:p>
            <a:r>
              <a:rPr sz="1100">
                <a:solidFill>
                  <a:srgbClr val="6B7280"/>
                </a:solidFill>
              </a:rPr>
              <a:t>    la lámina CMP en PDF: indicadores, VCT/VAT/RIT con abiertos y cerrados, fotos del mes</a:t>
            </a:r>
          </a:p>
          <a:p>
            <a:r>
              <a:rPr sz="1400" b="1">
                <a:solidFill>
                  <a:srgbClr val="111827"/>
                </a:solidFill>
              </a:rPr>
              <a:t>•  Informe de Gestión (Franke)</a:t>
            </a:r>
          </a:p>
          <a:p>
            <a:r>
              <a:rPr sz="1100">
                <a:solidFill>
                  <a:srgbClr val="6B7280"/>
                </a:solidFill>
              </a:rPr>
              <a:t>    el Excel TA.DPR con indicadores del año, acumulados y capacitaciones</a:t>
            </a:r>
          </a:p>
          <a:p>
            <a:r>
              <a:rPr sz="1400" b="1">
                <a:solidFill>
                  <a:srgbClr val="111827"/>
                </a:solidFill>
              </a:rPr>
              <a:t>•  Presentación de evidencias (Lomas y más)</a:t>
            </a:r>
          </a:p>
          <a:p>
            <a:r>
              <a:rPr sz="1100">
                <a:solidFill>
                  <a:srgbClr val="6B7280"/>
                </a:solidFill>
              </a:rPr>
              <a:t>    PPT editable: una lámina por actividad con sus fotos — Anexo 10.2, SAFEWORK, doc. ambiental</a:t>
            </a:r>
          </a:p>
          <a:p>
            <a:r>
              <a:rPr sz="1400" b="1">
                <a:solidFill>
                  <a:srgbClr val="111827"/>
                </a:solidFill>
              </a:rPr>
              <a:t>•  El flujo</a:t>
            </a:r>
          </a:p>
          <a:p>
            <a:r>
              <a:rPr sz="1100">
                <a:solidFill>
                  <a:srgbClr val="6B7280"/>
                </a:solidFill>
              </a:rPr>
              <a:t>    GENERAR → revisar → enviar al mandante → «Marcar enviada» adjuntando el respaldo</a:t>
            </a:r>
          </a:p>
        </p:txBody>
      </p:sp>
      <p:pic>
        <p:nvPicPr>
          <p:cNvPr id="6" name="Picture 5" descr="entreg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194560"/>
            <a:ext cx="4937760" cy="1149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Entregas del mes real: Generar + Marcar enviada, con plazo por ítem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RUTINA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El calendario de cada 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103120" cy="658368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Día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91640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Prevención fija las metas del mes por faena (VCT, VAT, RIT…) en «Gestión del mes»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04872"/>
            <a:ext cx="21031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Todos los días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96312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Los supervisores cargan sus actividades CON FOTO, el mismo día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9544"/>
            <a:ext cx="21031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Cada semana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00984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Prevención mira el Monitoreo y cobra a los «sin cargas» — no esperar al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14215"/>
            <a:ext cx="21031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42231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Cierre de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105655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Prevención digita dotación, HH y accidentes en «Indicadores» · los supervisores cierran sus abiertos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18888"/>
            <a:ext cx="2103120" cy="65836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4690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Día 1–5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910327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Generar y enviar informes del mandante · marcar cada entrega con su respaldo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23559"/>
            <a:ext cx="2103120" cy="6583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51575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Antes del día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5714999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</a:rPr>
              <a:t>E-200 declarado en SIMIN (DS 132 art. 36 — se declara aunque no haya accidentes)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7A43"/>
                </a:solidFill>
              </a:rPr>
              <a:t>DESDE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827"/>
                </a:solidFill>
              </a:rPr>
              <a:t>Para dejarlo andando esta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11827"/>
                </a:solidFill>
              </a:rPr>
              <a:t>•  Supervisores (hoy)</a:t>
            </a:r>
          </a:p>
          <a:p>
            <a:r>
              <a:rPr sz="1200">
                <a:solidFill>
                  <a:srgbClr val="6B7280"/>
                </a:solidFill>
              </a:rPr>
              <a:t>    entrar a /m/prevencion, guardar el acceso en el teléfono y cargar la PRIMERA actividad real del día</a:t>
            </a:r>
          </a:p>
          <a:p>
            <a:r>
              <a:rPr sz="1500" b="1">
                <a:solidFill>
                  <a:srgbClr val="111827"/>
                </a:solidFill>
              </a:rPr>
              <a:t>•  Prevención (hoy)</a:t>
            </a:r>
          </a:p>
          <a:p>
            <a:r>
              <a:rPr sz="1200">
                <a:solidFill>
                  <a:srgbClr val="6B7280"/>
                </a:solidFill>
              </a:rPr>
              <a:t>    fijar las metas de septiembre por faena y completar «Datos de la faena» de Romeral, Lomas y Centinela (mandante e instalación del E-200)</a:t>
            </a:r>
          </a:p>
          <a:p>
            <a:r>
              <a:rPr sz="1500" b="1">
                <a:solidFill>
                  <a:srgbClr val="111827"/>
                </a:solidFill>
              </a:rPr>
              <a:t>•  César (Calama)</a:t>
            </a:r>
          </a:p>
          <a:p>
            <a:r>
              <a:rPr sz="1200">
                <a:solidFill>
                  <a:srgbClr val="6B7280"/>
                </a:solidFill>
              </a:rPr>
              <a:t>    completar su RUN y registro SNGM en «Datos de la faena» de Lomas y Centinela</a:t>
            </a:r>
          </a:p>
          <a:p>
            <a:r>
              <a:rPr sz="1500" b="1">
                <a:solidFill>
                  <a:srgbClr val="111827"/>
                </a:solidFill>
              </a:rPr>
              <a:t>•  Responsables</a:t>
            </a:r>
          </a:p>
          <a:p>
            <a:r>
              <a:rPr sz="1200">
                <a:solidFill>
                  <a:srgbClr val="6B7280"/>
                </a:solidFill>
              </a:rPr>
              <a:t>    Anyulin: Romeral y Franke (Coquimbo) · César: Lomas Bayas y Centinela (Calama)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737360"/>
            <a:ext cx="4480560" cy="31089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965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7A43"/>
                </a:solidFill>
              </a:rPr>
              <a:t>Accesos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46888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</a:rPr>
              <a:t>Supervisor:</a:t>
            </a:r>
          </a:p>
          <a:p>
            <a:pPr algn="l"/>
            <a:r>
              <a:rPr sz="1300" b="0">
                <a:solidFill>
                  <a:srgbClr val="111827"/>
                </a:solidFill>
              </a:rPr>
              <a:t>pilladoiceo.netlify.app/m/prevencion</a:t>
            </a:r>
          </a:p>
          <a:p>
            <a:pPr algn="l"/>
          </a:p>
          <a:p>
            <a:pPr algn="l"/>
            <a:r>
              <a:rPr sz="1300" b="0">
                <a:solidFill>
                  <a:srgbClr val="111827"/>
                </a:solidFill>
              </a:rPr>
              <a:t>Prevención:</a:t>
            </a:r>
          </a:p>
          <a:p>
            <a:pPr algn="l"/>
            <a:r>
              <a:rPr sz="1300" b="0">
                <a:solidFill>
                  <a:srgbClr val="111827"/>
                </a:solidFill>
              </a:rPr>
              <a:t>…/m/prevencion/control</a:t>
            </a:r>
          </a:p>
          <a:p>
            <a:pPr algn="l"/>
            <a:r>
              <a:rPr sz="1300" b="0">
                <a:solidFill>
                  <a:srgbClr val="111827"/>
                </a:solidFill>
              </a:rPr>
              <a:t>…/dashboard/prevencion/reportabilidad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Dudas y soporte: Manuel Olivares · el sistema ya está operando en producción — probado hoy con un registro real de punta a punta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